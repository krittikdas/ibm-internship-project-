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1A936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Insuff.</c:v>
                </c:pt>
                <c:pt idx="1">
                  <c:v>Normal</c:v>
                </c:pt>
                <c:pt idx="2">
                  <c:v>Over I</c:v>
                </c:pt>
                <c:pt idx="3">
                  <c:v>Over II</c:v>
                </c:pt>
                <c:pt idx="4">
                  <c:v>Obese I</c:v>
                </c:pt>
                <c:pt idx="5">
                  <c:v>Obese II</c:v>
                </c:pt>
                <c:pt idx="6">
                  <c:v>Obese III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272</c:v>
                </c:pt>
                <c:pt idx="1">
                  <c:v>287</c:v>
                </c:pt>
                <c:pt idx="2">
                  <c:v>290</c:v>
                </c:pt>
                <c:pt idx="3">
                  <c:v>290</c:v>
                </c:pt>
                <c:pt idx="4">
                  <c:v>351</c:v>
                </c:pt>
                <c:pt idx="5">
                  <c:v>297</c:v>
                </c:pt>
                <c:pt idx="6">
                  <c:v>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EC-4F0C-8BE5-73E1C4F20C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9525" cap="flat">
              <a:solidFill>
                <a:srgbClr val="E4EA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A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A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F45B69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Physical Activity</c:v>
                </c:pt>
                <c:pt idx="1">
                  <c:v>Meals / Day</c:v>
                </c:pt>
                <c:pt idx="2">
                  <c:v>Height</c:v>
                </c:pt>
                <c:pt idx="3">
                  <c:v>Vegetable Intake</c:v>
                </c:pt>
                <c:pt idx="4">
                  <c:v>Age</c:v>
                </c:pt>
                <c:pt idx="5">
                  <c:v>Weight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4.2999999999999997E-2</c:v>
                </c:pt>
                <c:pt idx="1">
                  <c:v>4.9000000000000002E-2</c:v>
                </c:pt>
                <c:pt idx="2">
                  <c:v>0.08</c:v>
                </c:pt>
                <c:pt idx="3">
                  <c:v>8.4000000000000005E-2</c:v>
                </c:pt>
                <c:pt idx="4">
                  <c:v>0.09</c:v>
                </c:pt>
                <c:pt idx="5">
                  <c:v>0.29299999999999998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62-4143-9683-F95DB4340B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2"/>
          <c:min val="0"/>
        </c:scaling>
        <c:delete val="0"/>
        <c:axPos val="b"/>
        <c:majorGridlines>
          <c:spPr>
            <a:ln w="9525" cap="flat">
              <a:solidFill>
                <a:srgbClr val="E4EAE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A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A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14B5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4B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9D7-4162-B9BD-4AE76E73DF24}"/>
              </c:ext>
            </c:extLst>
          </c:dPt>
          <c:dPt>
            <c:idx val="1"/>
            <c:invertIfNegative val="0"/>
            <c:bubble3D val="0"/>
            <c:spPr>
              <a:solidFill>
                <a:srgbClr val="1A93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9D7-4162-B9BD-4AE76E73DF24}"/>
              </c:ext>
            </c:extLst>
          </c:dPt>
          <c:dPt>
            <c:idx val="2"/>
            <c:invertIfNegative val="0"/>
            <c:bubble3D val="0"/>
            <c:spPr>
              <a:solidFill>
                <a:srgbClr val="F45B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9D7-4162-B9BD-4AE76E73DF2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ANN*
(Binary)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95.98</c:v>
                </c:pt>
                <c:pt idx="1">
                  <c:v>93.62</c:v>
                </c:pt>
                <c:pt idx="2">
                  <c:v>98.58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9D7-4162-B9BD-4AE76E73DF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A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A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A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41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14B5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2926080" cy="2926080"/>
          </a:xfrm>
          <a:prstGeom prst="ellipse">
            <a:avLst/>
          </a:prstGeom>
          <a:solidFill>
            <a:srgbClr val="1A936F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F45B69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6F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of Obesity Levels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pipeline for classifying obesity levels from eating habits and physical condition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914400" cy="0"/>
          </a:xfrm>
          <a:prstGeom prst="line">
            <a:avLst/>
          </a:prstGeom>
          <a:noFill/>
          <a:ln w="31750">
            <a:solidFill>
              <a:srgbClr val="F45B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by-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715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Krittik Das 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6053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Girijananda</a:t>
            </a:r>
            <a:r>
              <a:rPr lang="en-US" sz="1300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Choudhury University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3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114B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obesity_ppt/assets/icon_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18580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growing global health challenge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260604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00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is a rapidly growing global health concern, closely linked to diabetes, cardiovascular disease, and reduced life expectancy.</a:t>
            </a:r>
            <a:endParaRPr lang="en-US" sz="1500" dirty="0"/>
          </a:p>
          <a:p>
            <a:pPr marL="342900" indent="-342900" algn="l">
              <a:lnSpc>
                <a:spcPct val="1300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screening relies on BMI thresholds alone, which is simplistic and overlooks the behavioral and lifestyle factors that actually drive weight gain.</a:t>
            </a:r>
            <a:endParaRPr lang="en-US" sz="1500" dirty="0"/>
          </a:p>
          <a:p>
            <a:pPr marL="342900" indent="-342900" algn="l">
              <a:lnSpc>
                <a:spcPct val="1300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turns those everyday lifestyle signals into a structured, machine-readable classification task.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0" y="1737360"/>
            <a:ext cx="4343400" cy="3886200"/>
          </a:xfrm>
          <a:prstGeom prst="roundRect">
            <a:avLst>
              <a:gd name="adj" fmla="val 2824"/>
            </a:avLst>
          </a:prstGeom>
          <a:solidFill>
            <a:srgbClr val="E7F0EE"/>
          </a:solidFill>
          <a:ln/>
          <a:effectLst>
            <a:outerShdw blurRad="101600" dist="25400" dir="5400000" algn="bl" rotWithShape="0">
              <a:srgbClr val="1F29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635240" y="2011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3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635240" y="260604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habits, physical activity, and daily lifestyle patterns can reveal obesity risk earlier and more objectively than a diagnosis alone — enabling preventive, personalized health interventions through a data-driven classification tool.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Level Estimation Using Machine Learning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3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67528" y="1371600"/>
            <a:ext cx="777240" cy="777240"/>
          </a:xfrm>
          <a:prstGeom prst="ellipse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obesity_ppt/assets/icon_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521" y="1542593"/>
            <a:ext cx="435254" cy="4352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233172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design and evaluate a robust machine learning pipeline that classifies individuals into one of seven obesity levels — from Insufficient Weight to Obesity Type III — based on their eating habits and physical condition.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973836" y="425196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F29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73836" y="4389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5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2,111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73836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Records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39996" y="425196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F29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39996" y="4389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5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539996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Features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06156" y="425196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F29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106156" y="4389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5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106156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Classes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Level Estimation Using Machine Learning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3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114B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obesity_ppt/assets/icon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14822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399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Estimation of Obesity Levels Dataset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196596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from individuals in Mexico, Peru, and Colombia to estimate obesity levels from eating habits and physical condition. About 23% of records come from direct survey responses; the remaining 77% were generated synthetically (SMOTE) to balance the seven target classes.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94360" y="36118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4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00" dirty="0">
                <a:solidFill>
                  <a:srgbClr val="114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archive.ics.uci.edu/dataset/544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402336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span demographics (Age, Height, Weight, Gender), eating habits (FAVC, FCVC, NCP, CAEC, CALC), and physical condition (FAF, TUE, CH2O, SMOKE, SCC, MTRANS, family history).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60920" y="1371600"/>
            <a:ext cx="4297680" cy="4892040"/>
          </a:xfrm>
          <a:prstGeom prst="roundRect">
            <a:avLst>
              <a:gd name="adj" fmla="val 2553"/>
            </a:avLst>
          </a:prstGeom>
          <a:solidFill>
            <a:srgbClr val="0A3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68096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 — NObeyesdad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80960" y="2103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Weight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56132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F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680960" y="25374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Weight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561320" y="25374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F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80960" y="2971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Overweight Level I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56132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F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680960" y="34061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Overweight Level II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561320" y="34061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F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68096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Type I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561320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F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680960" y="42748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Type II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561320" y="42748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F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680960" y="4709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Type III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05613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F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680960" y="5189220"/>
            <a:ext cx="3794760" cy="0"/>
          </a:xfrm>
          <a:prstGeom prst="line">
            <a:avLst/>
          </a:prstGeom>
          <a:noFill/>
          <a:ln w="9525">
            <a:solidFill>
              <a:srgbClr val="2E62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680960" y="53080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2,111 records — near-balanced across all 7 classes, 0 missing values.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Level Estimation Using Machine Learning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3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Pre-processing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502920" cy="502920"/>
          </a:xfrm>
          <a:prstGeom prst="ellipse">
            <a:avLst/>
          </a:prstGeom>
          <a:solidFill>
            <a:srgbClr val="114B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obesity_ppt/assets/icon_prepro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" y="1573682"/>
            <a:ext cx="281635" cy="281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Cleansing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206240" y="1417320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0 missing values across all 17 columns — no change required.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" y="2377440"/>
            <a:ext cx="502920" cy="502920"/>
          </a:xfrm>
          <a:prstGeom prst="ellipse">
            <a:avLst/>
          </a:prstGeom>
          <a:solidFill>
            <a:srgbClr val="114B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obesity_ppt/assets/icon_data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" y="2488082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31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Typing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206240" y="2331720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columns into numerical (Age, Height, Weight, FCVC, NCP, CH2O, FAF, TUE) and categorical (Gender, FAVC, CAEC, SMOKE, SCC, CALC, MTRANS, family history).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94360" y="3291840"/>
            <a:ext cx="502920" cy="502920"/>
          </a:xfrm>
          <a:prstGeom prst="ellipse">
            <a:avLst/>
          </a:prstGeom>
          <a:solidFill>
            <a:srgbClr val="114B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obesity_ppt/assets/icon_e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02" y="340248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46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206240" y="3246120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categorical/textual features; Label Encoded the multiclass target NObeyesdad.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94360" y="4206240"/>
            <a:ext cx="502920" cy="502920"/>
          </a:xfrm>
          <a:prstGeom prst="ellipse">
            <a:avLst/>
          </a:prstGeom>
          <a:solidFill>
            <a:srgbClr val="114B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/home/claude/obesity_ppt/assets/icon_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002" y="431688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60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206240" y="4160520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dirty="0"/>
              <a:t>I applied StandardScaler to the numerical features, mainly because Logistic Regression and the neural network are sensitive to feature scale </a:t>
            </a: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model training.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94360" y="5120640"/>
            <a:ext cx="502920" cy="502920"/>
          </a:xfrm>
          <a:prstGeom prst="ellipse">
            <a:avLst/>
          </a:prstGeom>
          <a:solidFill>
            <a:srgbClr val="114B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/home/claude/obesity_ppt/assets/icon_objecti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002" y="5231282"/>
            <a:ext cx="281635" cy="28163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074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Split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4206240" y="5074920"/>
            <a:ext cx="7452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split, stratified to preserve class proportions across all 7 obesity categories.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Level Estimation Using Machine Learning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3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Implemented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3776" y="150876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F29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88236" y="1828800"/>
            <a:ext cx="731520" cy="731520"/>
          </a:xfrm>
          <a:prstGeom prst="ellipse">
            <a:avLst/>
          </a:prstGeom>
          <a:solidFill>
            <a:srgbClr val="114B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obesity_ppt/assets/icon_logr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170" y="1989734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8096" y="34290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classifier extended to multiclass via a softmax/one-vs-rest scheme. Tuned over the regularization strength C using GridSearchCV.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4256" y="150876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F29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728716" y="1828800"/>
            <a:ext cx="731520" cy="731520"/>
          </a:xfrm>
          <a:prstGeom prst="ellipse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obesity_ppt/assets/icon_r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650" y="198973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17136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08576" y="34290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trees, each trained on a random subset of data and features, with predictions combined by majority vote. Also yields interpretable feature importances.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74736" y="150876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blurRad="76200" dist="25400" dir="5400000" algn="bl" rotWithShape="0">
              <a:srgbClr val="1F29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569196" y="1828800"/>
            <a:ext cx="731520" cy="731520"/>
          </a:xfrm>
          <a:prstGeom prst="ellipse">
            <a:avLst/>
          </a:prstGeom>
          <a:solidFill>
            <a:srgbClr val="F45B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obesity_ppt/assets/icon_an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0130" y="1989734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57616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Neural Network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449056" y="34290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feed-forward network (Dense 64 → Dropout 0.2 → Dense 32 → Dense 1, sigmoid) trained with Adam and early stopping on a binary Obese vs. Not-Obese formulation.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Level Estimation Using Machine Learning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3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14B5F"/>
          </a:solidFill>
          <a:ln/>
          <a:effectLst>
            <a:outerShdw blurRad="76200" dist="25400" dir="5400000" algn="bl" rotWithShape="0">
              <a:srgbClr val="1F2933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49808" y="2679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Survey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3172968"/>
            <a:ext cx="384048" cy="237744"/>
          </a:xfrm>
          <a:prstGeom prst="rightArrow">
            <a:avLst/>
          </a:prstGeom>
          <a:solidFill>
            <a:srgbClr val="5C6B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898648" y="2606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A936F"/>
          </a:solidFill>
          <a:ln/>
          <a:effectLst>
            <a:outerShdw blurRad="76200" dist="25400" dir="5400000" algn="bl" rotWithShape="0">
              <a:srgbClr val="1F2933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008376" y="2679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90088" y="29260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(Encode + Scale)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73168" y="3172968"/>
            <a:ext cx="384048" cy="237744"/>
          </a:xfrm>
          <a:prstGeom prst="rightArrow">
            <a:avLst/>
          </a:prstGeom>
          <a:solidFill>
            <a:srgbClr val="5C6B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157216" y="2606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14B5F"/>
          </a:solidFill>
          <a:ln/>
          <a:effectLst>
            <a:outerShdw blurRad="76200" dist="25400" dir="5400000" algn="bl" rotWithShape="0">
              <a:srgbClr val="1F2933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66944" y="2679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48656" y="29260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31736" y="3172968"/>
            <a:ext cx="384048" cy="237744"/>
          </a:xfrm>
          <a:prstGeom prst="rightArrow">
            <a:avLst/>
          </a:prstGeom>
          <a:solidFill>
            <a:srgbClr val="5C6B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15784" y="2606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A936F"/>
          </a:solidFill>
          <a:ln/>
          <a:effectLst>
            <a:outerShdw blurRad="76200" dist="25400" dir="5400000" algn="bl" rotWithShape="0">
              <a:srgbClr val="1F2933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25512" y="2679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07224" y="29260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GridSearchCV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90304" y="3172968"/>
            <a:ext cx="384048" cy="237744"/>
          </a:xfrm>
          <a:prstGeom prst="rightArrow">
            <a:avLst/>
          </a:prstGeom>
          <a:solidFill>
            <a:srgbClr val="5C6B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674352" y="2606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14B5F"/>
          </a:solidFill>
          <a:ln/>
          <a:effectLst>
            <a:outerShdw blurRad="76200" dist="25400" dir="5400000" algn="bl" rotWithShape="0">
              <a:srgbClr val="1F2933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784080" y="2679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65792" y="29260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572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(Logistic Regression, Random Forest) is tuned with 5-fold cross-validated GridSearchCV before being evaluated once on the held-out test set; the ANN uses a validation split with early stopping in place of grid search.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Level Estimation Using Machine Learning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3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Visual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Distribution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434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target classes are near-balanced (272–351 records each), so accuracy is a fair primary metric.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263640" y="1280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Predictive Features (Random Forest)</a:t>
            </a:r>
            <a:endParaRPr lang="en-US" sz="13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172200" y="160020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263640" y="43434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alone drives ~29% of the Random Forest’s predictive power — expected, since it is near-determinative of obesity class. Age and vegetable intake (FCVC) are the strongest behavioral signals.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Level Estimation Using Machine Learning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3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760720" cy="23774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4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 = 100 (GridSearchCV)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4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trees, min_samples_split =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4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64‒32‒1 dense net, early stopping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977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*The ANN was trained on a simplified binary target (Obese vs. Not Obese), so its accuracy is not directly comparable to the two 7-class models.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2940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Accuracy Comparison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537960" y="1828800"/>
          <a:ext cx="51206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Level Estimation Using Machine Learning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Results, Conclusion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698480" y="-2103120"/>
            <a:ext cx="2926080" cy="2926080"/>
          </a:xfrm>
          <a:prstGeom prst="ellipse">
            <a:avLst/>
          </a:prstGeom>
          <a:solidFill>
            <a:srgbClr val="114B5F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709160"/>
          </a:xfrm>
          <a:prstGeom prst="roundRect">
            <a:avLst>
              <a:gd name="adj" fmla="val 2330"/>
            </a:avLst>
          </a:prstGeom>
          <a:solidFill>
            <a:srgbClr val="0F43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obesity_ppt/assets/icon_concl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" y="18022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2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gave the strongest 7-class performance (95.98%), edging out Random Forest (93.62%) — the classes appear largely linearly separable once features are scaled and encoded.</a:t>
            </a:r>
            <a:endParaRPr lang="en-US" sz="1300" dirty="0"/>
          </a:p>
          <a:p>
            <a:pPr marL="342900" indent="-342900" algn="l">
              <a:lnSpc>
                <a:spcPct val="12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Age, and vegetable consumption frequency are the most influential predictors across models.</a:t>
            </a:r>
            <a:endParaRPr lang="en-US" sz="1300" dirty="0"/>
          </a:p>
          <a:p>
            <a:pPr marL="342900" indent="-342900" algn="l">
              <a:lnSpc>
                <a:spcPct val="12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Reframed as binary (Obese vs. Not Obese), an ANN reached 98.58% — confirming that most multiclass errors occur between adjacent weight categories, not across the obese/non-obese boundary.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440680" cy="4709160"/>
          </a:xfrm>
          <a:prstGeom prst="roundRect">
            <a:avLst>
              <a:gd name="adj" fmla="val 2330"/>
            </a:avLst>
          </a:prstGeom>
          <a:solidFill>
            <a:srgbClr val="0F43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F45B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obesity_ppt/assets/icon_pro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882" y="180228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2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~77% of records are synthetically generated (SMOTE) to balance classes, which may not fully reflect real-world variability.</a:t>
            </a:r>
            <a:endParaRPr lang="en-US" sz="1300" dirty="0"/>
          </a:p>
          <a:p>
            <a:pPr marL="342900" indent="-342900" algn="l">
              <a:lnSpc>
                <a:spcPct val="12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boundaries (e.g., Overweight Level I vs. II) follow BMI cut-offs, so misclassifications cluster at adjacent thresholds.</a:t>
            </a:r>
            <a:endParaRPr lang="en-US" sz="1300" dirty="0"/>
          </a:p>
          <a:p>
            <a:pPr marL="342900" indent="-342900" algn="l">
              <a:lnSpc>
                <a:spcPct val="12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ANN and the multiclass models solve different tasks, so their accuracies aren’t directly comparable.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Level Estimation Using Machine Learning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3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14B5F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4389120"/>
            <a:ext cx="3291840" cy="3291840"/>
          </a:xfrm>
          <a:prstGeom prst="ellipse">
            <a:avLst/>
          </a:prstGeom>
          <a:solidFill>
            <a:srgbClr val="1A936F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Repository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502920" cy="502920"/>
          </a:xfrm>
          <a:prstGeom prst="ellipse">
            <a:avLst/>
          </a:prstGeom>
          <a:solidFill>
            <a:srgbClr val="1A93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obesity_ppt/assets/icon_fu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" y="171084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224028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Logistic Regression, Random Forest, and ANN — benchmark gradient boosting (XGBoost/LightGBM) and deeper architectures.</a:t>
            </a:r>
            <a:endParaRPr lang="en-US" sz="1350" dirty="0"/>
          </a:p>
          <a:p>
            <a:pPr marL="342900" indent="-342900" algn="l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larger, fully real-world (non-synthetic) datasets across more diverse populations.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4360" y="5074920"/>
            <a:ext cx="457200" cy="457200"/>
          </a:xfrm>
          <a:prstGeom prst="ellipse">
            <a:avLst/>
          </a:prstGeom>
          <a:solidFill>
            <a:srgbClr val="F45B6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obesity_ppt/assets/icon_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17550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120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
</a:t>
            </a:r>
            <a:endParaRPr lang="en-US" sz="1250" dirty="0"/>
          </a:p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Link: https://github.com/Krittikdas/IBM-internship-Project-/upload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949440" y="1600200"/>
            <a:ext cx="0" cy="4663440"/>
          </a:xfrm>
          <a:prstGeom prst="line">
            <a:avLst/>
          </a:prstGeom>
          <a:noFill/>
          <a:ln w="12700">
            <a:solidFill>
              <a:srgbClr val="1D5B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7315200" y="28346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7315200" y="3794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F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1060</Words>
  <Application>Microsoft Office PowerPoint</Application>
  <PresentationFormat>Widescreen</PresentationFormat>
  <Paragraphs>148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krittik das</cp:lastModifiedBy>
  <cp:revision>3</cp:revision>
  <dcterms:created xsi:type="dcterms:W3CDTF">2026-08-27T07:51:29Z</dcterms:created>
  <dcterms:modified xsi:type="dcterms:W3CDTF">2026-08-27T21:58:03Z</dcterms:modified>
</cp:coreProperties>
</file>